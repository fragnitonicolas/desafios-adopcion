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gE8RS4tZ9AoriA4srjmwAO3GCO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hyperlink" Target="https://doncel.org.ar" TargetMode="External"/><Relationship Id="rId11" Type="http://schemas.openxmlformats.org/officeDocument/2006/relationships/hyperlink" Target="https://www.scba.gov.ar/servicios/adopciones.asp" TargetMode="External"/><Relationship Id="rId22" Type="http://schemas.openxmlformats.org/officeDocument/2006/relationships/hyperlink" Target="https://doncel.org.ar" TargetMode="External"/><Relationship Id="rId10" Type="http://schemas.openxmlformats.org/officeDocument/2006/relationships/hyperlink" Target="https://www.scba.gov.ar/servicios/adopciones.asp" TargetMode="External"/><Relationship Id="rId21" Type="http://schemas.openxmlformats.org/officeDocument/2006/relationships/hyperlink" Target="https://doncel.org.ar" TargetMode="External"/><Relationship Id="rId13" Type="http://schemas.openxmlformats.org/officeDocument/2006/relationships/image" Target="../media/image5.png"/><Relationship Id="rId12" Type="http://schemas.openxmlformats.org/officeDocument/2006/relationships/hyperlink" Target="https://www.scba.gov.ar/servicios/adopciones.asp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about:blank" TargetMode="External"/><Relationship Id="rId9" Type="http://schemas.openxmlformats.org/officeDocument/2006/relationships/hyperlink" Target="https://www.scba.gov.ar/servicios/adopciones.asp" TargetMode="External"/><Relationship Id="rId15" Type="http://schemas.openxmlformats.org/officeDocument/2006/relationships/hyperlink" Target="https://www.argentina.gob.ar/justicia/adopcion" TargetMode="External"/><Relationship Id="rId14" Type="http://schemas.openxmlformats.org/officeDocument/2006/relationships/hyperlink" Target="https://www.argentina.gob.ar/justicia/adopcion" TargetMode="External"/><Relationship Id="rId17" Type="http://schemas.openxmlformats.org/officeDocument/2006/relationships/hyperlink" Target="https://www.argentina.gob.ar/justicia/adopcion" TargetMode="External"/><Relationship Id="rId16" Type="http://schemas.openxmlformats.org/officeDocument/2006/relationships/hyperlink" Target="https://www.argentina.gob.ar/justicia/adopcion" TargetMode="External"/><Relationship Id="rId5" Type="http://schemas.openxmlformats.org/officeDocument/2006/relationships/hyperlink" Target="about:blank" TargetMode="External"/><Relationship Id="rId19" Type="http://schemas.openxmlformats.org/officeDocument/2006/relationships/hyperlink" Target="https://doncel.org.ar" TargetMode="External"/><Relationship Id="rId6" Type="http://schemas.openxmlformats.org/officeDocument/2006/relationships/hyperlink" Target="about:blank" TargetMode="External"/><Relationship Id="rId18" Type="http://schemas.openxmlformats.org/officeDocument/2006/relationships/image" Target="../media/image2.png"/><Relationship Id="rId7" Type="http://schemas.openxmlformats.org/officeDocument/2006/relationships/hyperlink" Target="about:blank" TargetMode="External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40" Type="http://schemas.openxmlformats.org/officeDocument/2006/relationships/hyperlink" Target="https://www.instagram.com/reels/DDsvkkbSmR-/" TargetMode="External"/><Relationship Id="rId20" Type="http://schemas.openxmlformats.org/officeDocument/2006/relationships/hyperlink" Target="https://wednesdayschild.com/who-we-are/" TargetMode="External"/><Relationship Id="rId42" Type="http://schemas.openxmlformats.org/officeDocument/2006/relationships/hyperlink" Target="https://www.instagram.com/reels/DDsvkkbSmR-/" TargetMode="External"/><Relationship Id="rId41" Type="http://schemas.openxmlformats.org/officeDocument/2006/relationships/hyperlink" Target="https://www.instagram.com/reels/DDsvkkbSmR-/" TargetMode="External"/><Relationship Id="rId22" Type="http://schemas.openxmlformats.org/officeDocument/2006/relationships/hyperlink" Target="https://www.google.com/search?q=INAU+Adopciones+-+Su+futuro+depende+de+tu+amor#fpstate=ive&amp;vld=cid:7de51058,vid:qlevIJdbBG4,st:0" TargetMode="External"/><Relationship Id="rId21" Type="http://schemas.openxmlformats.org/officeDocument/2006/relationships/hyperlink" Target="https://wednesdayschild.com/who-we-are/" TargetMode="External"/><Relationship Id="rId24" Type="http://schemas.openxmlformats.org/officeDocument/2006/relationships/hyperlink" Target="https://www.google.com/search?q=INAU+Adopciones+-+Su+futuro+depende+de+tu+amor#fpstate=ive&amp;vld=cid:7de51058,vid:qlevIJdbBG4,st:0" TargetMode="External"/><Relationship Id="rId23" Type="http://schemas.openxmlformats.org/officeDocument/2006/relationships/hyperlink" Target="https://www.google.com/search?q=INAU+Adopciones+-+Su+futuro+depende+de+tu+amor#fpstate=ive&amp;vld=cid:7de51058,vid:qlevIJdbBG4,st:0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hyperlink" Target="https://www.instagram.com/p/DZJdXGaNvzd/?hl=es-la" TargetMode="External"/><Relationship Id="rId9" Type="http://schemas.openxmlformats.org/officeDocument/2006/relationships/hyperlink" Target="https://www.instagram.com/p/DY9YotVx6wI/?hl=es-la" TargetMode="External"/><Relationship Id="rId26" Type="http://schemas.openxmlformats.org/officeDocument/2006/relationships/hyperlink" Target="https://www.instagram.com/reels/DPtlRr0Dkcl/" TargetMode="External"/><Relationship Id="rId25" Type="http://schemas.openxmlformats.org/officeDocument/2006/relationships/hyperlink" Target="https://www.google.com/search?q=INAU+Adopciones+-+Su+futuro+depende+de+tu+amor#fpstate=ive&amp;vld=cid:7de51058,vid:qlevIJdbBG4,st:0" TargetMode="External"/><Relationship Id="rId28" Type="http://schemas.openxmlformats.org/officeDocument/2006/relationships/hyperlink" Target="https://www.instagram.com/reels/DPtlRr0Dkcl/" TargetMode="External"/><Relationship Id="rId27" Type="http://schemas.openxmlformats.org/officeDocument/2006/relationships/hyperlink" Target="https://www.instagram.com/reels/DPtlRr0Dkcl/" TargetMode="External"/><Relationship Id="rId5" Type="http://schemas.openxmlformats.org/officeDocument/2006/relationships/hyperlink" Target="https://www.instagram.com/p/DZJdXGaNvzd/?hl=es-la" TargetMode="External"/><Relationship Id="rId6" Type="http://schemas.openxmlformats.org/officeDocument/2006/relationships/hyperlink" Target="https://www.instagram.com/p/DZJdXGaNvzd/?hl=es-la" TargetMode="External"/><Relationship Id="rId29" Type="http://schemas.openxmlformats.org/officeDocument/2006/relationships/hyperlink" Target="https://www.instagram.com/reels/DPtlRr0Dkcl/" TargetMode="External"/><Relationship Id="rId7" Type="http://schemas.openxmlformats.org/officeDocument/2006/relationships/hyperlink" Target="https://www.instagram.com/p/DZJdXGaNvzd/?hl=es-la" TargetMode="External"/><Relationship Id="rId8" Type="http://schemas.openxmlformats.org/officeDocument/2006/relationships/hyperlink" Target="https://www.instagram.com/p/DY9YotVx6wI/?hl=es-la" TargetMode="External"/><Relationship Id="rId31" Type="http://schemas.openxmlformats.org/officeDocument/2006/relationships/hyperlink" Target="https://www.tiktok.com/@infobae/video/7305128315520601350" TargetMode="External"/><Relationship Id="rId30" Type="http://schemas.openxmlformats.org/officeDocument/2006/relationships/image" Target="../media/image8.png"/><Relationship Id="rId11" Type="http://schemas.openxmlformats.org/officeDocument/2006/relationships/hyperlink" Target="https://www.instagram.com/p/DY9YotVx6wI/?hl=es-la" TargetMode="External"/><Relationship Id="rId33" Type="http://schemas.openxmlformats.org/officeDocument/2006/relationships/hyperlink" Target="https://www.tiktok.com/@infobae/video/7305128315520601350" TargetMode="External"/><Relationship Id="rId10" Type="http://schemas.openxmlformats.org/officeDocument/2006/relationships/hyperlink" Target="https://www.instagram.com/p/DY9YotVx6wI/?hl=es-la" TargetMode="External"/><Relationship Id="rId32" Type="http://schemas.openxmlformats.org/officeDocument/2006/relationships/hyperlink" Target="https://www.tiktok.com/@infobae/video/7305128315520601350" TargetMode="External"/><Relationship Id="rId13" Type="http://schemas.openxmlformats.org/officeDocument/2006/relationships/hyperlink" Target="https://www.youtube.com/playlist?list=PL2mgsMAMBKicXjO9Mz7GDOPJO3TuryXa7" TargetMode="External"/><Relationship Id="rId35" Type="http://schemas.openxmlformats.org/officeDocument/2006/relationships/hyperlink" Target="https://www.instagram.com/reels/DQp6vkrDW9H/" TargetMode="External"/><Relationship Id="rId12" Type="http://schemas.openxmlformats.org/officeDocument/2006/relationships/image" Target="../media/image13.png"/><Relationship Id="rId34" Type="http://schemas.openxmlformats.org/officeDocument/2006/relationships/hyperlink" Target="https://www.tiktok.com/@infobae/video/7305128315520601350" TargetMode="External"/><Relationship Id="rId15" Type="http://schemas.openxmlformats.org/officeDocument/2006/relationships/hyperlink" Target="https://www.youtube.com/playlist?list=PL2mgsMAMBKicXjO9Mz7GDOPJO3TuryXa7" TargetMode="External"/><Relationship Id="rId37" Type="http://schemas.openxmlformats.org/officeDocument/2006/relationships/hyperlink" Target="https://www.instagram.com/reels/DQp6vkrDW9H/" TargetMode="External"/><Relationship Id="rId14" Type="http://schemas.openxmlformats.org/officeDocument/2006/relationships/hyperlink" Target="https://www.youtube.com/playlist?list=PL2mgsMAMBKicXjO9Mz7GDOPJO3TuryXa7" TargetMode="External"/><Relationship Id="rId36" Type="http://schemas.openxmlformats.org/officeDocument/2006/relationships/hyperlink" Target="https://www.instagram.com/reels/DQp6vkrDW9H/" TargetMode="External"/><Relationship Id="rId17" Type="http://schemas.openxmlformats.org/officeDocument/2006/relationships/image" Target="../media/image11.png"/><Relationship Id="rId39" Type="http://schemas.openxmlformats.org/officeDocument/2006/relationships/hyperlink" Target="https://www.instagram.com/reels/DDsvkkbSmR-/" TargetMode="External"/><Relationship Id="rId16" Type="http://schemas.openxmlformats.org/officeDocument/2006/relationships/hyperlink" Target="https://www.youtube.com/playlist?list=PL2mgsMAMBKicXjO9Mz7GDOPJO3TuryXa7" TargetMode="External"/><Relationship Id="rId38" Type="http://schemas.openxmlformats.org/officeDocument/2006/relationships/hyperlink" Target="https://www.instagram.com/reels/DQp6vkrDW9H/" TargetMode="External"/><Relationship Id="rId19" Type="http://schemas.openxmlformats.org/officeDocument/2006/relationships/hyperlink" Target="https://wednesdayschild.com/who-we-are/" TargetMode="External"/><Relationship Id="rId18" Type="http://schemas.openxmlformats.org/officeDocument/2006/relationships/hyperlink" Target="https://wednesdayschild.com/who-we-ar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4F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61520" cy="1417320"/>
          </a:xfrm>
          <a:prstGeom prst="rect">
            <a:avLst/>
          </a:prstGeom>
          <a:solidFill>
            <a:srgbClr val="3F5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164592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DESAFÍOS EN ADOPCIÓN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65836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AE2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DCEAE2"/>
                </a:solidFill>
                <a:latin typeface="Calibri"/>
                <a:ea typeface="Calibri"/>
                <a:cs typeface="Calibri"/>
                <a:sym typeface="Calibri"/>
              </a:rPr>
              <a:t>Recursos para seguir pensando la adopción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02412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2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9D2C5"/>
                </a:solidFill>
                <a:latin typeface="Calibri"/>
                <a:ea typeface="Calibri"/>
                <a:cs typeface="Calibri"/>
                <a:sym typeface="Calibri"/>
              </a:rPr>
              <a:t>Dra. María Paz Bellucci  ·  Dr. Nicolás Fragnito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222992" y="713232"/>
            <a:ext cx="1499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74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1600200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A3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C3A33"/>
                </a:solidFill>
                <a:latin typeface="Calibri"/>
                <a:ea typeface="Calibri"/>
                <a:cs typeface="Calibri"/>
                <a:sym typeface="Calibri"/>
              </a:rPr>
              <a:t>Gracias por participar de este espacio de intercambio. La adopción es un proceso complejo que interpela no solo a quienes desean formar una familia, sino también a quienes intervenimos desde la justicia, las políticas públicas y las profesiones vinculadas a la niñez. Esperamos que estos recursos resulten útiles para continuar profundizando y reflexionando sobre la temática.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569763" y="2363766"/>
            <a:ext cx="2139600" cy="2880300"/>
          </a:xfrm>
          <a:prstGeom prst="roundRect">
            <a:avLst>
              <a:gd fmla="val 3419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2365291" y="2564934"/>
            <a:ext cx="548700" cy="548700"/>
          </a:xfrm>
          <a:prstGeom prst="ellipse">
            <a:avLst/>
          </a:prstGeom>
          <a:solidFill>
            <a:srgbClr val="E1EC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" name="Google Shape;2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5019" y="267466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1688635" y="3232446"/>
            <a:ext cx="190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A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C3A33"/>
                </a:solidFill>
                <a:latin typeface="Calibri"/>
                <a:ea typeface="Calibri"/>
                <a:cs typeface="Calibri"/>
                <a:sym typeface="Calibri"/>
              </a:rPr>
              <a:t>Presentación del taller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706922" y="3781086"/>
            <a:ext cx="186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74"/>
              </a:buClr>
              <a:buSzPts val="870"/>
              <a:buFont typeface="Calibri"/>
              <a:buNone/>
            </a:pPr>
            <a:r>
              <a:rPr b="0" i="0" lang="en-US" sz="870" u="none" cap="none" strike="noStrike">
                <a:solidFill>
                  <a:srgbClr val="6B7C74"/>
                </a:solidFill>
                <a:latin typeface="Calibri"/>
                <a:ea typeface="Calibri"/>
                <a:cs typeface="Calibri"/>
                <a:sym typeface="Calibri"/>
              </a:rPr>
              <a:t>Accedé a la presentación utilizada durante la exposición.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>
            <a:hlinkClick r:id="rId4"/>
          </p:cNvPr>
          <p:cNvSpPr/>
          <p:nvPr/>
        </p:nvSpPr>
        <p:spPr>
          <a:xfrm>
            <a:off x="1706922" y="4311438"/>
            <a:ext cx="1865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5B4F"/>
              </a:buClr>
              <a:buSzPts val="800"/>
              <a:buFont typeface="Calibri"/>
              <a:buNone/>
            </a:pPr>
            <a:r>
              <a:rPr b="1" i="0" lang="en-US" sz="800" u="sng" cap="none" strike="noStrike">
                <a:solidFill>
                  <a:srgbClr val="3F5B4F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completar enlace propio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752642" y="4786926"/>
            <a:ext cx="1773900" cy="292500"/>
          </a:xfrm>
          <a:prstGeom prst="roundRect">
            <a:avLst>
              <a:gd fmla="val 50000" name="adj"/>
            </a:avLst>
          </a:prstGeom>
          <a:solidFill>
            <a:srgbClr val="3F5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>
            <a:hlinkClick r:id="rId6"/>
          </p:cNvPr>
          <p:cNvSpPr/>
          <p:nvPr/>
        </p:nvSpPr>
        <p:spPr>
          <a:xfrm>
            <a:off x="1752642" y="4786926"/>
            <a:ext cx="177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Ir al recurso →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874051" y="2363766"/>
            <a:ext cx="2139600" cy="2880300"/>
          </a:xfrm>
          <a:prstGeom prst="roundRect">
            <a:avLst>
              <a:gd fmla="val 3419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4669579" y="2564934"/>
            <a:ext cx="548700" cy="548700"/>
          </a:xfrm>
          <a:prstGeom prst="ellipse">
            <a:avLst/>
          </a:prstGeom>
          <a:solidFill>
            <a:srgbClr val="E1EC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79307" y="267466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"/>
          <p:cNvSpPr/>
          <p:nvPr/>
        </p:nvSpPr>
        <p:spPr>
          <a:xfrm>
            <a:off x="3992923" y="3232446"/>
            <a:ext cx="190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A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C3A33"/>
                </a:solidFill>
                <a:latin typeface="Calibri"/>
                <a:ea typeface="Calibri"/>
                <a:cs typeface="Calibri"/>
                <a:sym typeface="Calibri"/>
              </a:rPr>
              <a:t>Registro de Aspirantes a Guarda con Fines Adoptivos (PBA)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4011211" y="3781086"/>
            <a:ext cx="186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74"/>
              </a:buClr>
              <a:buSzPts val="870"/>
              <a:buFont typeface="Calibri"/>
              <a:buNone/>
            </a:pPr>
            <a:r>
              <a:rPr b="0" i="0" lang="en-US" sz="870" u="none" cap="none" strike="noStrike">
                <a:solidFill>
                  <a:srgbClr val="6B7C74"/>
                </a:solidFill>
                <a:latin typeface="Calibri"/>
                <a:ea typeface="Calibri"/>
                <a:cs typeface="Calibri"/>
                <a:sym typeface="Calibri"/>
              </a:rPr>
              <a:t>Procedimiento de inscripción, requisitos y funcionamiento del registro en la Provincia de Buenos Aires.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>
            <a:hlinkClick r:id="rId9"/>
          </p:cNvPr>
          <p:cNvSpPr/>
          <p:nvPr/>
        </p:nvSpPr>
        <p:spPr>
          <a:xfrm>
            <a:off x="4011211" y="4311438"/>
            <a:ext cx="1865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5B4F"/>
              </a:buClr>
              <a:buSzPts val="800"/>
              <a:buFont typeface="Calibri"/>
              <a:buNone/>
            </a:pPr>
            <a:r>
              <a:rPr b="1" i="0" lang="en-US" sz="800" u="sng" cap="none" strike="noStrike">
                <a:solidFill>
                  <a:srgbClr val="3F5B4F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scba.gov.ar/servicios/adopciones.asp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4056931" y="4786926"/>
            <a:ext cx="1773900" cy="292500"/>
          </a:xfrm>
          <a:prstGeom prst="roundRect">
            <a:avLst>
              <a:gd fmla="val 50000" name="adj"/>
            </a:avLst>
          </a:prstGeom>
          <a:solidFill>
            <a:srgbClr val="3F5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>
            <a:hlinkClick r:id="rId11"/>
          </p:cNvPr>
          <p:cNvSpPr/>
          <p:nvPr/>
        </p:nvSpPr>
        <p:spPr>
          <a:xfrm>
            <a:off x="4056931" y="4786926"/>
            <a:ext cx="177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Ir al recurso →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178339" y="2363766"/>
            <a:ext cx="2139600" cy="2880300"/>
          </a:xfrm>
          <a:prstGeom prst="roundRect">
            <a:avLst>
              <a:gd fmla="val 3419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6973866" y="2564934"/>
            <a:ext cx="548700" cy="548700"/>
          </a:xfrm>
          <a:prstGeom prst="ellipse">
            <a:avLst/>
          </a:prstGeom>
          <a:solidFill>
            <a:srgbClr val="E1EC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083595" y="267466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"/>
          <p:cNvSpPr/>
          <p:nvPr/>
        </p:nvSpPr>
        <p:spPr>
          <a:xfrm>
            <a:off x="6297211" y="3232446"/>
            <a:ext cx="190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A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C3A33"/>
                </a:solidFill>
                <a:latin typeface="Calibri"/>
                <a:ea typeface="Calibri"/>
                <a:cs typeface="Calibri"/>
                <a:sym typeface="Calibri"/>
              </a:rPr>
              <a:t>Dirección Nacional del Registro Único de Aspirantes (DNRUA)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6315499" y="3781086"/>
            <a:ext cx="186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74"/>
              </a:buClr>
              <a:buSzPts val="870"/>
              <a:buFont typeface="Calibri"/>
              <a:buNone/>
            </a:pPr>
            <a:r>
              <a:rPr b="0" i="0" lang="en-US" sz="870" u="none" cap="none" strike="noStrike">
                <a:solidFill>
                  <a:srgbClr val="6B7C74"/>
                </a:solidFill>
                <a:latin typeface="Calibri"/>
                <a:ea typeface="Calibri"/>
                <a:cs typeface="Calibri"/>
                <a:sym typeface="Calibri"/>
              </a:rPr>
              <a:t>Normativa, estadísticas, publicaciones y convocatorias públicas de todo el país.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>
            <a:hlinkClick r:id="rId14"/>
          </p:cNvPr>
          <p:cNvSpPr/>
          <p:nvPr/>
        </p:nvSpPr>
        <p:spPr>
          <a:xfrm>
            <a:off x="6315499" y="4311438"/>
            <a:ext cx="1865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5B4F"/>
              </a:buClr>
              <a:buSzPts val="800"/>
              <a:buFont typeface="Calibri"/>
              <a:buNone/>
            </a:pPr>
            <a:r>
              <a:rPr b="1" i="0" lang="en-US" sz="800" u="sng" cap="none" strike="noStrike">
                <a:solidFill>
                  <a:srgbClr val="3F5B4F"/>
                </a:solidFill>
                <a:latin typeface="Calibri"/>
                <a:ea typeface="Calibri"/>
                <a:cs typeface="Calibri"/>
                <a:sym typeface="Calibri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argentina.gob.ar/justicia/adopcion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6361219" y="4786926"/>
            <a:ext cx="1773900" cy="292500"/>
          </a:xfrm>
          <a:prstGeom prst="roundRect">
            <a:avLst>
              <a:gd fmla="val 50000" name="adj"/>
            </a:avLst>
          </a:prstGeom>
          <a:solidFill>
            <a:srgbClr val="3F5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>
            <a:hlinkClick r:id="rId16"/>
          </p:cNvPr>
          <p:cNvSpPr/>
          <p:nvPr/>
        </p:nvSpPr>
        <p:spPr>
          <a:xfrm>
            <a:off x="6361219" y="4786926"/>
            <a:ext cx="177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Ir al recurso →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8482627" y="2363766"/>
            <a:ext cx="2139600" cy="2880300"/>
          </a:xfrm>
          <a:prstGeom prst="roundRect">
            <a:avLst>
              <a:gd fmla="val 3419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9278155" y="2564934"/>
            <a:ext cx="548700" cy="548700"/>
          </a:xfrm>
          <a:prstGeom prst="ellipse">
            <a:avLst/>
          </a:prstGeom>
          <a:solidFill>
            <a:srgbClr val="F3E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387883" y="267466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/>
          <p:nvPr/>
        </p:nvSpPr>
        <p:spPr>
          <a:xfrm>
            <a:off x="8601499" y="3232446"/>
            <a:ext cx="190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A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C3A33"/>
                </a:solidFill>
                <a:latin typeface="Calibri"/>
                <a:ea typeface="Calibri"/>
                <a:cs typeface="Calibri"/>
                <a:sym typeface="Calibri"/>
              </a:rPr>
              <a:t>Programa Doncel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8619787" y="3781086"/>
            <a:ext cx="1865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74"/>
              </a:buClr>
              <a:buSzPts val="870"/>
              <a:buFont typeface="Calibri"/>
              <a:buNone/>
            </a:pPr>
            <a:r>
              <a:rPr b="0" i="0" lang="en-US" sz="870" u="none" cap="none" strike="noStrike">
                <a:solidFill>
                  <a:srgbClr val="6B7C74"/>
                </a:solidFill>
                <a:latin typeface="Calibri"/>
                <a:ea typeface="Calibri"/>
                <a:cs typeface="Calibri"/>
                <a:sym typeface="Calibri"/>
              </a:rPr>
              <a:t>Recursos para adolescentes y jóvenes que egresan del sistema de cuidados alternativos.</a:t>
            </a:r>
            <a:endParaRPr b="0" i="0" sz="8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>
            <a:hlinkClick r:id="rId19"/>
          </p:cNvPr>
          <p:cNvSpPr/>
          <p:nvPr/>
        </p:nvSpPr>
        <p:spPr>
          <a:xfrm>
            <a:off x="8619787" y="4311438"/>
            <a:ext cx="1865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5B4F"/>
              </a:buClr>
              <a:buSzPts val="800"/>
              <a:buFont typeface="Calibri"/>
              <a:buNone/>
            </a:pPr>
            <a:r>
              <a:rPr b="1" i="0" lang="en-US" sz="800" u="sng" cap="none" strike="noStrike">
                <a:solidFill>
                  <a:srgbClr val="3F5B4F"/>
                </a:solidFill>
                <a:latin typeface="Calibri"/>
                <a:ea typeface="Calibri"/>
                <a:cs typeface="Calibri"/>
                <a:sym typeface="Calibri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doncel.org.ar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8665507" y="4786926"/>
            <a:ext cx="1773900" cy="292500"/>
          </a:xfrm>
          <a:prstGeom prst="roundRect">
            <a:avLst>
              <a:gd fmla="val 5000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>
            <a:hlinkClick r:id="rId21"/>
          </p:cNvPr>
          <p:cNvSpPr/>
          <p:nvPr/>
        </p:nvSpPr>
        <p:spPr>
          <a:xfrm>
            <a:off x="8665507" y="4786926"/>
            <a:ext cx="1773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Ir al recurso →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457200" y="5349240"/>
            <a:ext cx="11247120" cy="914400"/>
          </a:xfrm>
          <a:prstGeom prst="roundRect">
            <a:avLst>
              <a:gd fmla="val 8000" name="adj"/>
            </a:avLst>
          </a:prstGeom>
          <a:solidFill>
            <a:srgbClr val="E1EC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777240" y="5458968"/>
            <a:ext cx="1060704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5B4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3F5B4F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0" i="1" lang="en-US" sz="1250" u="none" cap="none" strike="noStrike">
                <a:solidFill>
                  <a:srgbClr val="2C3A33"/>
                </a:solidFill>
                <a:latin typeface="Cambria"/>
                <a:ea typeface="Cambria"/>
                <a:cs typeface="Cambria"/>
                <a:sym typeface="Cambria"/>
              </a:rPr>
              <a:t>Garantizar el derecho de un niño, niña o adolescente a vivir en familia exige mucho más que encontrar una familia: implica construir un sistema capaz de escuchar, acompañar y dar respuestas oportunas.</a:t>
            </a:r>
            <a:r>
              <a:rPr b="1" i="0" lang="en-US" sz="2000" u="none" cap="none" strike="noStrike">
                <a:solidFill>
                  <a:srgbClr val="3F5B4F"/>
                </a:solidFill>
                <a:latin typeface="Cambria"/>
                <a:ea typeface="Cambria"/>
                <a:cs typeface="Cambria"/>
                <a:sym typeface="Cambria"/>
              </a:rPr>
              <a:t>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457200" y="641908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C74"/>
                </a:solidFill>
                <a:latin typeface="Calibri"/>
                <a:ea typeface="Calibri"/>
                <a:cs typeface="Calibri"/>
                <a:sym typeface="Calibri"/>
              </a:rPr>
              <a:t>Gracias por ser parte de este encuentro.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C7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C74"/>
                </a:solidFill>
                <a:latin typeface="Calibri"/>
                <a:ea typeface="Calibri"/>
                <a:cs typeface="Calibri"/>
                <a:sym typeface="Calibri"/>
              </a:rPr>
              <a:t>Escaneá el QR cuando quieras volver a consultar estos recursos.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4F0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3F5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57200" y="146304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MATERIAL AUDIOVISUAL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200" y="603504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AE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DCEAE2"/>
                </a:solidFill>
                <a:latin typeface="Calibri"/>
                <a:ea typeface="Calibri"/>
                <a:cs typeface="Calibri"/>
                <a:sym typeface="Calibri"/>
              </a:rPr>
              <a:t>Para seguir pensando cómo comunicamos a niños, niñas y adolescentes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57200" y="1170432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9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F9C82"/>
                </a:solidFill>
                <a:latin typeface="Calibri"/>
                <a:ea typeface="Calibri"/>
                <a:cs typeface="Calibri"/>
                <a:sym typeface="Calibri"/>
              </a:rPr>
              <a:t>CONVOCATORIAS SIN MOSTRAR EL ROSTRO DE NNA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57200" y="1444752"/>
            <a:ext cx="5440680" cy="530352"/>
          </a:xfrm>
          <a:prstGeom prst="roundRect">
            <a:avLst>
              <a:gd fmla="val 1206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15179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/>
          <p:nvPr/>
        </p:nvSpPr>
        <p:spPr>
          <a:xfrm>
            <a:off x="960120" y="1481328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A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A33"/>
                </a:solidFill>
                <a:latin typeface="Calibri"/>
                <a:ea typeface="Calibri"/>
                <a:cs typeface="Calibri"/>
                <a:sym typeface="Calibri"/>
              </a:rPr>
              <a:t>Convocatoria en Instagram — ejemplo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>
            <a:hlinkClick r:id="rId4"/>
          </p:cNvPr>
          <p:cNvSpPr/>
          <p:nvPr/>
        </p:nvSpPr>
        <p:spPr>
          <a:xfrm>
            <a:off x="960120" y="1746504"/>
            <a:ext cx="4526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B4F"/>
              </a:buClr>
              <a:buSzPts val="750"/>
              <a:buFont typeface="Calibri"/>
              <a:buNone/>
            </a:pPr>
            <a:r>
              <a:rPr b="0" i="0" lang="en-US" sz="750" u="sng" cap="none" strike="noStrike">
                <a:solidFill>
                  <a:srgbClr val="3F5B4F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https://www.instagram.com/p/DZJdXGaNvzd/?hl=es-la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513832" y="1581912"/>
            <a:ext cx="256032" cy="256032"/>
          </a:xfrm>
          <a:prstGeom prst="ellipse">
            <a:avLst/>
          </a:prstGeom>
          <a:solidFill>
            <a:srgbClr val="3F5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>
            <a:hlinkClick r:id="rId6"/>
          </p:cNvPr>
          <p:cNvSpPr/>
          <p:nvPr/>
        </p:nvSpPr>
        <p:spPr>
          <a:xfrm>
            <a:off x="5513832" y="158191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57200" y="2084832"/>
            <a:ext cx="5440680" cy="530352"/>
          </a:xfrm>
          <a:prstGeom prst="roundRect">
            <a:avLst>
              <a:gd fmla="val 1206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" y="21579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/>
          <p:nvPr/>
        </p:nvSpPr>
        <p:spPr>
          <a:xfrm>
            <a:off x="960120" y="2121408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A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A33"/>
                </a:solidFill>
                <a:latin typeface="Calibri"/>
                <a:ea typeface="Calibri"/>
                <a:cs typeface="Calibri"/>
                <a:sym typeface="Calibri"/>
              </a:rPr>
              <a:t>Convocatoria en Instagram — ejemplo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>
            <a:hlinkClick r:id="rId8"/>
          </p:cNvPr>
          <p:cNvSpPr/>
          <p:nvPr/>
        </p:nvSpPr>
        <p:spPr>
          <a:xfrm>
            <a:off x="960120" y="2386584"/>
            <a:ext cx="4526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B4F"/>
              </a:buClr>
              <a:buSzPts val="750"/>
              <a:buFont typeface="Calibri"/>
              <a:buNone/>
            </a:pPr>
            <a:r>
              <a:rPr b="0" i="0" lang="en-US" sz="750" u="sng" cap="none" strike="noStrike">
                <a:solidFill>
                  <a:srgbClr val="3F5B4F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https://www.instagram.com/p/DY9YotVx6wI/?hl=es-la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5513832" y="2221992"/>
            <a:ext cx="256032" cy="256032"/>
          </a:xfrm>
          <a:prstGeom prst="ellipse">
            <a:avLst/>
          </a:prstGeom>
          <a:solidFill>
            <a:srgbClr val="3F5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>
            <a:hlinkClick r:id="rId10"/>
          </p:cNvPr>
          <p:cNvSpPr/>
          <p:nvPr/>
        </p:nvSpPr>
        <p:spPr>
          <a:xfrm>
            <a:off x="5513832" y="222199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457200" y="2962656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9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F9C82"/>
                </a:solidFill>
                <a:latin typeface="Calibri"/>
                <a:ea typeface="Calibri"/>
                <a:cs typeface="Calibri"/>
                <a:sym typeface="Calibri"/>
              </a:rPr>
              <a:t>PODCAST — LA VIDA DE LOS NNA (CÓRDOBA)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57200" y="3236976"/>
            <a:ext cx="5440680" cy="530352"/>
          </a:xfrm>
          <a:prstGeom prst="roundRect">
            <a:avLst>
              <a:gd fmla="val 1206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5216" y="331012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"/>
          <p:cNvSpPr/>
          <p:nvPr/>
        </p:nvSpPr>
        <p:spPr>
          <a:xfrm>
            <a:off x="960120" y="3273552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A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A33"/>
                </a:solidFill>
                <a:latin typeface="Calibri"/>
                <a:ea typeface="Calibri"/>
                <a:cs typeface="Calibri"/>
                <a:sym typeface="Calibri"/>
              </a:rPr>
              <a:t>Playlist completa en YouTube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>
            <a:hlinkClick r:id="rId13"/>
          </p:cNvPr>
          <p:cNvSpPr/>
          <p:nvPr/>
        </p:nvSpPr>
        <p:spPr>
          <a:xfrm>
            <a:off x="960120" y="3538728"/>
            <a:ext cx="4526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B4F"/>
              </a:buClr>
              <a:buSzPts val="750"/>
              <a:buFont typeface="Calibri"/>
              <a:buNone/>
            </a:pPr>
            <a:r>
              <a:rPr b="0" i="0" lang="en-US" sz="750" u="sng" cap="none" strike="noStrike">
                <a:solidFill>
                  <a:srgbClr val="3F5B4F"/>
                </a:solidFill>
                <a:latin typeface="Calibri"/>
                <a:ea typeface="Calibri"/>
                <a:cs typeface="Calibri"/>
                <a:sym typeface="Calibri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https://www.youtube.com/playlist?list=PL2mgsMAMBKicXjO9Mz7GDOPJO3TuryXa7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5513832" y="3374136"/>
            <a:ext cx="256032" cy="256032"/>
          </a:xfrm>
          <a:prstGeom prst="ellipse">
            <a:avLst/>
          </a:prstGeom>
          <a:solidFill>
            <a:srgbClr val="3F5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>
            <a:hlinkClick r:id="rId15"/>
          </p:cNvPr>
          <p:cNvSpPr/>
          <p:nvPr/>
        </p:nvSpPr>
        <p:spPr>
          <a:xfrm>
            <a:off x="5513832" y="337413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457200" y="4005072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9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F9C82"/>
                </a:solidFill>
                <a:latin typeface="Calibri"/>
                <a:ea typeface="Calibri"/>
                <a:cs typeface="Calibri"/>
                <a:sym typeface="Calibri"/>
              </a:rPr>
              <a:t>CAMPAÑAS INTERNACIONALES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457200" y="4279392"/>
            <a:ext cx="5440680" cy="530352"/>
          </a:xfrm>
          <a:prstGeom prst="roundRect">
            <a:avLst>
              <a:gd fmla="val 1206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85216" y="43525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"/>
          <p:cNvSpPr/>
          <p:nvPr/>
        </p:nvSpPr>
        <p:spPr>
          <a:xfrm>
            <a:off x="960120" y="4315968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A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A33"/>
                </a:solidFill>
                <a:latin typeface="Calibri"/>
                <a:ea typeface="Calibri"/>
                <a:cs typeface="Calibri"/>
                <a:sym typeface="Calibri"/>
              </a:rPr>
              <a:t>EE.UU. — Wednesday's Child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>
            <a:hlinkClick r:id="rId18"/>
          </p:cNvPr>
          <p:cNvSpPr/>
          <p:nvPr/>
        </p:nvSpPr>
        <p:spPr>
          <a:xfrm>
            <a:off x="960120" y="4581144"/>
            <a:ext cx="4526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B4F"/>
              </a:buClr>
              <a:buSzPts val="750"/>
              <a:buFont typeface="Calibri"/>
              <a:buNone/>
            </a:pPr>
            <a:r>
              <a:rPr b="0" i="0" lang="en-US" sz="750" u="sng" cap="none" strike="noStrike">
                <a:solidFill>
                  <a:srgbClr val="3F5B4F"/>
                </a:solidFill>
                <a:latin typeface="Calibri"/>
                <a:ea typeface="Calibri"/>
                <a:cs typeface="Calibri"/>
                <a:sym typeface="Calibri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https://wednesdayschild.com/who-we-are/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5513832" y="4416552"/>
            <a:ext cx="256032" cy="256032"/>
          </a:xfrm>
          <a:prstGeom prst="ellipse">
            <a:avLst/>
          </a:prstGeom>
          <a:solidFill>
            <a:srgbClr val="3F5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>
            <a:hlinkClick r:id="rId20"/>
          </p:cNvPr>
          <p:cNvSpPr/>
          <p:nvPr/>
        </p:nvSpPr>
        <p:spPr>
          <a:xfrm>
            <a:off x="5513832" y="44165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457200" y="4919472"/>
            <a:ext cx="5440680" cy="530352"/>
          </a:xfrm>
          <a:prstGeom prst="roundRect">
            <a:avLst>
              <a:gd fmla="val 1206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85216" y="49926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/>
          <p:nvPr/>
        </p:nvSpPr>
        <p:spPr>
          <a:xfrm>
            <a:off x="960120" y="4956048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A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A33"/>
                </a:solidFill>
                <a:latin typeface="Calibri"/>
                <a:ea typeface="Calibri"/>
                <a:cs typeface="Calibri"/>
                <a:sym typeface="Calibri"/>
              </a:rPr>
              <a:t>Uruguay — INAU "Su futuro depende de tu amor"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>
            <a:hlinkClick r:id="rId22"/>
          </p:cNvPr>
          <p:cNvSpPr/>
          <p:nvPr/>
        </p:nvSpPr>
        <p:spPr>
          <a:xfrm>
            <a:off x="960120" y="5221224"/>
            <a:ext cx="4526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B4F"/>
              </a:buClr>
              <a:buSzPts val="750"/>
              <a:buFont typeface="Calibri"/>
              <a:buNone/>
            </a:pPr>
            <a:r>
              <a:rPr b="0" i="0" lang="en-US" sz="750" u="sng" cap="none" strike="noStrike">
                <a:solidFill>
                  <a:srgbClr val="3F5B4F"/>
                </a:solidFill>
                <a:latin typeface="Calibri"/>
                <a:ea typeface="Calibri"/>
                <a:cs typeface="Calibri"/>
                <a:sym typeface="Calibri"/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https://www.google.com/search?q=INAU+Adopciones+-+Su+futuro+depende+de+tu+amor#fpstate=ive&amp;vld=cid:7de51058,vid:qlevIJdbBG4,st:0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5513832" y="5056632"/>
            <a:ext cx="256032" cy="256032"/>
          </a:xfrm>
          <a:prstGeom prst="ellipse">
            <a:avLst/>
          </a:prstGeom>
          <a:solidFill>
            <a:srgbClr val="3F5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">
            <a:hlinkClick r:id="rId24"/>
          </p:cNvPr>
          <p:cNvSpPr/>
          <p:nvPr/>
        </p:nvSpPr>
        <p:spPr>
          <a:xfrm>
            <a:off x="5513832" y="505663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6263640" y="1170432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9C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F9C82"/>
                </a:solidFill>
                <a:latin typeface="Calibri"/>
                <a:ea typeface="Calibri"/>
                <a:cs typeface="Calibri"/>
                <a:sym typeface="Calibri"/>
              </a:rPr>
              <a:t>INFOBAE — COMUNICACIÓN Y ADOPCIÓN EN REDES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263640" y="1444752"/>
            <a:ext cx="5440680" cy="530352"/>
          </a:xfrm>
          <a:prstGeom prst="roundRect">
            <a:avLst>
              <a:gd fmla="val 1206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1656" y="15179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/>
          <p:nvPr/>
        </p:nvSpPr>
        <p:spPr>
          <a:xfrm>
            <a:off x="6766560" y="1481328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A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A33"/>
                </a:solidFill>
                <a:latin typeface="Calibri"/>
                <a:ea typeface="Calibri"/>
                <a:cs typeface="Calibri"/>
                <a:sym typeface="Calibri"/>
              </a:rPr>
              <a:t>Reel de Infobae — ejemplo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>
            <a:hlinkClick r:id="rId26"/>
          </p:cNvPr>
          <p:cNvSpPr/>
          <p:nvPr/>
        </p:nvSpPr>
        <p:spPr>
          <a:xfrm>
            <a:off x="6766560" y="1746504"/>
            <a:ext cx="4526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B4F"/>
              </a:buClr>
              <a:buSzPts val="750"/>
              <a:buFont typeface="Calibri"/>
              <a:buNone/>
            </a:pPr>
            <a:r>
              <a:rPr b="0" i="0" lang="en-US" sz="750" u="sng" cap="none" strike="noStrike">
                <a:solidFill>
                  <a:srgbClr val="3F5B4F"/>
                </a:solidFill>
                <a:latin typeface="Calibri"/>
                <a:ea typeface="Calibri"/>
                <a:cs typeface="Calibri"/>
                <a:sym typeface="Calibri"/>
                <a:hlinkClick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https://www.instagram.com/reels/DPtlRr0Dkcl/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1320272" y="1581912"/>
            <a:ext cx="256032" cy="256032"/>
          </a:xfrm>
          <a:prstGeom prst="ellipse">
            <a:avLst/>
          </a:prstGeom>
          <a:solidFill>
            <a:srgbClr val="3F5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>
            <a:hlinkClick r:id="rId28"/>
          </p:cNvPr>
          <p:cNvSpPr/>
          <p:nvPr/>
        </p:nvSpPr>
        <p:spPr>
          <a:xfrm>
            <a:off x="11320272" y="158191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263640" y="2084832"/>
            <a:ext cx="5440680" cy="530352"/>
          </a:xfrm>
          <a:prstGeom prst="roundRect">
            <a:avLst>
              <a:gd fmla="val 1206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2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6391656" y="215798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>
            <a:off x="6766560" y="2121408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A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A33"/>
                </a:solidFill>
                <a:latin typeface="Calibri"/>
                <a:ea typeface="Calibri"/>
                <a:cs typeface="Calibri"/>
                <a:sym typeface="Calibri"/>
              </a:rPr>
              <a:t>TikTok de Infobae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>
            <a:hlinkClick r:id="rId31"/>
          </p:cNvPr>
          <p:cNvSpPr/>
          <p:nvPr/>
        </p:nvSpPr>
        <p:spPr>
          <a:xfrm>
            <a:off x="6766560" y="2386584"/>
            <a:ext cx="4526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B4F"/>
              </a:buClr>
              <a:buSzPts val="750"/>
              <a:buFont typeface="Calibri"/>
              <a:buNone/>
            </a:pPr>
            <a:r>
              <a:rPr b="0" i="0" lang="en-US" sz="750" u="sng" cap="none" strike="noStrike">
                <a:solidFill>
                  <a:srgbClr val="3F5B4F"/>
                </a:solidFill>
                <a:latin typeface="Calibri"/>
                <a:ea typeface="Calibri"/>
                <a:cs typeface="Calibri"/>
                <a:sym typeface="Calibri"/>
                <a:hlinkClick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https://www.tiktok.com/@infobae/video/7305128315520601350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1320272" y="2221992"/>
            <a:ext cx="256032" cy="256032"/>
          </a:xfrm>
          <a:prstGeom prst="ellipse">
            <a:avLst/>
          </a:prstGeom>
          <a:solidFill>
            <a:srgbClr val="3F5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>
            <a:hlinkClick r:id="rId33"/>
          </p:cNvPr>
          <p:cNvSpPr/>
          <p:nvPr/>
        </p:nvSpPr>
        <p:spPr>
          <a:xfrm>
            <a:off x="11320272" y="222199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263640" y="2724912"/>
            <a:ext cx="5440680" cy="530352"/>
          </a:xfrm>
          <a:prstGeom prst="roundRect">
            <a:avLst>
              <a:gd fmla="val 1206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1656" y="27980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/>
          <p:nvPr/>
        </p:nvSpPr>
        <p:spPr>
          <a:xfrm>
            <a:off x="6766560" y="2761488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A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A33"/>
                </a:solidFill>
                <a:latin typeface="Calibri"/>
                <a:ea typeface="Calibri"/>
                <a:cs typeface="Calibri"/>
                <a:sym typeface="Calibri"/>
              </a:rPr>
              <a:t>Reel de Infobae — ejemplo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>
            <a:hlinkClick r:id="rId35"/>
          </p:cNvPr>
          <p:cNvSpPr/>
          <p:nvPr/>
        </p:nvSpPr>
        <p:spPr>
          <a:xfrm>
            <a:off x="6766560" y="3026664"/>
            <a:ext cx="4526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B4F"/>
              </a:buClr>
              <a:buSzPts val="750"/>
              <a:buFont typeface="Calibri"/>
              <a:buNone/>
            </a:pPr>
            <a:r>
              <a:rPr b="0" i="0" lang="en-US" sz="750" u="sng" cap="none" strike="noStrike">
                <a:solidFill>
                  <a:srgbClr val="3F5B4F"/>
                </a:solidFill>
                <a:latin typeface="Calibri"/>
                <a:ea typeface="Calibri"/>
                <a:cs typeface="Calibri"/>
                <a:sym typeface="Calibri"/>
                <a:hlinkClick r:id="rId3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https://www.instagram.com/reels/DQp6vkrDW9H/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11320272" y="2862072"/>
            <a:ext cx="256032" cy="256032"/>
          </a:xfrm>
          <a:prstGeom prst="ellipse">
            <a:avLst/>
          </a:prstGeom>
          <a:solidFill>
            <a:srgbClr val="3F5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">
            <a:hlinkClick r:id="rId37"/>
          </p:cNvPr>
          <p:cNvSpPr/>
          <p:nvPr/>
        </p:nvSpPr>
        <p:spPr>
          <a:xfrm>
            <a:off x="11320272" y="28620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3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6263640" y="3364992"/>
            <a:ext cx="5440680" cy="530352"/>
          </a:xfrm>
          <a:prstGeom prst="roundRect">
            <a:avLst>
              <a:gd fmla="val 1206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1905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1656" y="34381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/>
          <p:nvPr/>
        </p:nvSpPr>
        <p:spPr>
          <a:xfrm>
            <a:off x="6766560" y="3401568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A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A33"/>
                </a:solidFill>
                <a:latin typeface="Calibri"/>
                <a:ea typeface="Calibri"/>
                <a:cs typeface="Calibri"/>
                <a:sym typeface="Calibri"/>
              </a:rPr>
              <a:t>Reel de Infobae — para pasar un fragmento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>
            <a:hlinkClick r:id="rId39"/>
          </p:cNvPr>
          <p:cNvSpPr/>
          <p:nvPr/>
        </p:nvSpPr>
        <p:spPr>
          <a:xfrm>
            <a:off x="6766560" y="3666744"/>
            <a:ext cx="4526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B4F"/>
              </a:buClr>
              <a:buSzPts val="750"/>
              <a:buFont typeface="Calibri"/>
              <a:buNone/>
            </a:pPr>
            <a:r>
              <a:rPr b="0" i="0" lang="en-US" sz="750" u="sng" cap="none" strike="noStrike">
                <a:solidFill>
                  <a:srgbClr val="3F5B4F"/>
                </a:solidFill>
                <a:latin typeface="Calibri"/>
                <a:ea typeface="Calibri"/>
                <a:cs typeface="Calibri"/>
                <a:sym typeface="Calibri"/>
                <a:hlinkClick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https://www.instagram.com/reels/DDsvkkbSmR-/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11320272" y="3502152"/>
            <a:ext cx="256032" cy="256032"/>
          </a:xfrm>
          <a:prstGeom prst="ellipse">
            <a:avLst/>
          </a:prstGeom>
          <a:solidFill>
            <a:srgbClr val="3F5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">
            <a:hlinkClick r:id="rId41"/>
          </p:cNvPr>
          <p:cNvSpPr/>
          <p:nvPr/>
        </p:nvSpPr>
        <p:spPr>
          <a:xfrm>
            <a:off x="11320272" y="35021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hlinkClick r:id="rId4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4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7C74"/>
                </a:solidFill>
                <a:latin typeface="Calibri"/>
                <a:ea typeface="Calibri"/>
                <a:cs typeface="Calibri"/>
                <a:sym typeface="Calibri"/>
              </a:rPr>
              <a:t>Nota: los enlaces a redes sociales pueden requerir estar logueado o pueden dejar de estar disponibles si el contenido original se elimina.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2026-06-25T00:52:06Z</dcterms:created>
  <dc:creator>Dra. María Paz Bellucci / Dr. Nicolás Fragnito</dc:creator>
</cp:coreProperties>
</file>